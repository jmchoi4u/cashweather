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568e42837f41f0" /><Relationship Type="http://schemas.openxmlformats.org/officeDocument/2006/relationships/extended-properties" Target="/docProps/app.xml" Id="R3753610ac44b46e2" /><Relationship Type="http://schemas.openxmlformats.org/officeDocument/2006/relationships/officeDocument" Target="/ppt/presentation.xml" Id="R521a8bebf22f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37447b40cc48b2"/>
  </p:sldMasterIdLst>
  <p:notesMasterIdLst>
    <p:notesMasterId xmlns:r="http://schemas.openxmlformats.org/officeDocument/2006/relationships" r:id="R4769e9f425a1420b"/>
  </p:notesMasterIdLst>
  <p:sldIdLst>
    <p:sldId xmlns:r="http://schemas.openxmlformats.org/officeDocument/2006/relationships" id="256" r:id="Re176b4db7523457c"/>
    <p:sldId xmlns:r="http://schemas.openxmlformats.org/officeDocument/2006/relationships" id="257" r:id="R1bc2dd5bbeef4cf5"/>
    <p:sldId xmlns:r="http://schemas.openxmlformats.org/officeDocument/2006/relationships" id="258" r:id="Recfc690e0f9a4319"/>
    <p:sldId xmlns:r="http://schemas.openxmlformats.org/officeDocument/2006/relationships" id="259" r:id="R62b17eb609a94098"/>
    <p:sldId xmlns:r="http://schemas.openxmlformats.org/officeDocument/2006/relationships" id="260" r:id="Ra9bf91646f6c41e8"/>
    <p:sldId xmlns:r="http://schemas.openxmlformats.org/officeDocument/2006/relationships" id="261" r:id="Rc1affc92dbd345a4"/>
    <p:sldId xmlns:r="http://schemas.openxmlformats.org/officeDocument/2006/relationships" id="262" r:id="Rd5ed59137ac64133"/>
    <p:sldId xmlns:r="http://schemas.openxmlformats.org/officeDocument/2006/relationships" id="263" r:id="R1047da286a044c32"/>
    <p:sldId xmlns:r="http://schemas.openxmlformats.org/officeDocument/2006/relationships" id="264" r:id="R170c0e648bfe42d7"/>
    <p:sldId xmlns:r="http://schemas.openxmlformats.org/officeDocument/2006/relationships" id="265" r:id="Re856f30c14824c6c"/>
    <p:sldId xmlns:r="http://schemas.openxmlformats.org/officeDocument/2006/relationships" id="266" r:id="Rcf02f2a5bd284b33"/>
    <p:sldId xmlns:r="http://schemas.openxmlformats.org/officeDocument/2006/relationships" id="267" r:id="Rf402acc35c504922"/>
    <p:sldId xmlns:r="http://schemas.openxmlformats.org/officeDocument/2006/relationships" id="268" r:id="Rbdae5ad5d44a45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61413433d4e88" /><Relationship Type="http://schemas.openxmlformats.org/officeDocument/2006/relationships/slideMaster" Target="/ppt/slideMasters/slideMaster1.xml" Id="Rfa37447b40cc48b2" /><Relationship Type="http://schemas.openxmlformats.org/officeDocument/2006/relationships/notesMaster" Target="/ppt/notesMasters/notesMaster1.xml" Id="R4769e9f425a1420b" /><Relationship Type="http://schemas.openxmlformats.org/officeDocument/2006/relationships/presProps" Target="/ppt/presProps.xml" Id="R2780a74eff8848c1" /><Relationship Type="http://schemas.openxmlformats.org/officeDocument/2006/relationships/tableStyles" Target="/ppt/tableStyles.xml" Id="Rb832688842d7446f" /><Relationship Type="http://schemas.openxmlformats.org/officeDocument/2006/relationships/slide" Target="/ppt/slides/slide1.xml" Id="Re176b4db7523457c" /><Relationship Type="http://schemas.openxmlformats.org/officeDocument/2006/relationships/slide" Target="/ppt/slides/slide2.xml" Id="R1bc2dd5bbeef4cf5" /><Relationship Type="http://schemas.openxmlformats.org/officeDocument/2006/relationships/slide" Target="/ppt/slides/slide3.xml" Id="Recfc690e0f9a4319" /><Relationship Type="http://schemas.openxmlformats.org/officeDocument/2006/relationships/slide" Target="/ppt/slides/slide4.xml" Id="R62b17eb609a94098" /><Relationship Type="http://schemas.openxmlformats.org/officeDocument/2006/relationships/slide" Target="/ppt/slides/slide5.xml" Id="Ra9bf91646f6c41e8" /><Relationship Type="http://schemas.openxmlformats.org/officeDocument/2006/relationships/slide" Target="/ppt/slides/slide6.xml" Id="Rc1affc92dbd345a4" /><Relationship Type="http://schemas.openxmlformats.org/officeDocument/2006/relationships/slide" Target="/ppt/slides/slide7.xml" Id="Rd5ed59137ac64133" /><Relationship Type="http://schemas.openxmlformats.org/officeDocument/2006/relationships/slide" Target="/ppt/slides/slide8.xml" Id="R1047da286a044c32" /><Relationship Type="http://schemas.openxmlformats.org/officeDocument/2006/relationships/slide" Target="/ppt/slides/slide9.xml" Id="R170c0e648bfe42d7" /><Relationship Type="http://schemas.openxmlformats.org/officeDocument/2006/relationships/slide" Target="/ppt/slides/slide10.xml" Id="Re856f30c14824c6c" /><Relationship Type="http://schemas.openxmlformats.org/officeDocument/2006/relationships/slide" Target="/ppt/slides/slide11.xml" Id="Rcf02f2a5bd284b33" /><Relationship Type="http://schemas.openxmlformats.org/officeDocument/2006/relationships/slide" Target="/ppt/slides/slide12.xml" Id="Rf402acc35c504922" /><Relationship Type="http://schemas.openxmlformats.org/officeDocument/2006/relationships/slide" Target="/ppt/slides/slide13.xml" Id="Rbdae5ad5d44a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ae67a1d29c40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1f8b8c90a466a" /><Relationship Type="http://schemas.openxmlformats.org/officeDocument/2006/relationships/notesMaster" Target="/ppt/notesMasters/notesMaster1.xml" Id="Rc09d3b4a232047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49557a56ff4a39" /><Relationship Type="http://schemas.openxmlformats.org/officeDocument/2006/relationships/notesMaster" Target="/ppt/notesMasters/notesMaster1.xml" Id="Rab3b6ff195ca40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09dc0b88d4d9c" /><Relationship Type="http://schemas.openxmlformats.org/officeDocument/2006/relationships/notesMaster" Target="/ppt/notesMasters/notesMaster1.xml" Id="Ra93210490e2c40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ee59b117445ce" /><Relationship Type="http://schemas.openxmlformats.org/officeDocument/2006/relationships/notesMaster" Target="/ppt/notesMasters/notesMaster1.xml" Id="Rdde318aaa026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c485066b9415d" /><Relationship Type="http://schemas.openxmlformats.org/officeDocument/2006/relationships/notesMaster" Target="/ppt/notesMasters/notesMaster1.xml" Id="R4bb5dc00d179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c3b9ada904f20" /><Relationship Type="http://schemas.openxmlformats.org/officeDocument/2006/relationships/notesMaster" Target="/ppt/notesMasters/notesMaster1.xml" Id="R4824ce0b2d8d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3b180797954398" /><Relationship Type="http://schemas.openxmlformats.org/officeDocument/2006/relationships/notesMaster" Target="/ppt/notesMasters/notesMaster1.xml" Id="R9ad45272591d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94b64e2dab4894" /><Relationship Type="http://schemas.openxmlformats.org/officeDocument/2006/relationships/notesMaster" Target="/ppt/notesMasters/notesMaster1.xml" Id="R4c6547863e4243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19ee0eef6443b0" /><Relationship Type="http://schemas.openxmlformats.org/officeDocument/2006/relationships/notesMaster" Target="/ppt/notesMasters/notesMaster1.xml" Id="R3e2e5df77aab4e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c875b087b74d53" /><Relationship Type="http://schemas.openxmlformats.org/officeDocument/2006/relationships/notesMaster" Target="/ppt/notesMasters/notesMaster1.xml" Id="Rfe12249f5ee542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239883cc194b35" /><Relationship Type="http://schemas.openxmlformats.org/officeDocument/2006/relationships/notesMaster" Target="/ppt/notesMasters/notesMaster1.xml" Id="R8c8cde8d472649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69ff0cd2714f16" /><Relationship Type="http://schemas.openxmlformats.org/officeDocument/2006/relationships/notesMaster" Target="/ppt/notesMasters/notesMaster1.xml" Id="Re3e6291bbb3643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56ad51050c4be6" /><Relationship Type="http://schemas.openxmlformats.org/officeDocument/2006/relationships/notesMaster" Target="/ppt/notesMasters/notesMaster1.xml" Id="Ree68314fa13341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[0:00-0:35] 발표자가 먼저 말하지 말고 8초 영상을 재생한다.</a:t>
            </a:r>
          </a:p>
          <a:p xmlns:a="http://schemas.openxmlformats.org/drawingml/2006/main">
            <a:r>
              <a:t>AI 영상 대사: '여러분, 저 오늘 날씨 앱을 믿었어요. 한 시간 뒤에 그친다길래 우산 없이 나갔고요… 결과는 이렇습니다.'</a:t>
            </a:r>
          </a:p>
          <a:p xmlns:a="http://schemas.openxmlformats.org/drawingml/2006/main">
            <a:r>
              <a:t>영상 프롬프트: 사용자의 비에 젖은 셀카를 참조한 9:16, 8초, 한국어 립싱크, 무표정한 다큐 톤, 마지막 1초에 젖은 머리 클로즈업, 자막 없음.</a:t>
            </a:r>
          </a:p>
          <a:p xmlns:a="http://schemas.openxmlformats.org/drawingml/2006/main">
            <a:r>
              <a:t>영상이 없으면 현재 마스코트 썸네일을 보여주고 같은 대사를 직접 연기한다.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asset: public/assets/cashweather/jeju-rain-lockscreen.png</a:t>
            </a:r>
          </a:p>
          <a:p xmlns:a="http://schemas.openxmlformats.org/drawingml/2006/main">
            <a:r>
              <a:t>- Project-owned asset: public/assets/cashweather/cloud-coin-mascot.png</a:t>
            </a:r>
          </a:p>
          <a:p xmlns:a="http://schemas.openxmlformats.org/drawingml/2006/main">
            <a:r>
              <a:t>- Pitch inspiration: https://endohealth.ai/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[0:35-1:02] '예보가 틀리면 지금까지는 사용자만 손해였습니다. 저희는 그 오차에 가격을 붙였습니다.'</a:t>
            </a:r>
          </a:p>
          <a:p xmlns:a="http://schemas.openxmlformats.org/drawingml/2006/main">
            <a:r>
              <a:t>첫 번째 반복개그: '마음에 드셨다면 캐시웨더 지금 바로 다운로드… 아, 아직 스토어에는 없습니다.' 하고 바로 넘어간다.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1, 4, 6-8</a:t>
            </a:r>
          </a:p>
          <a:p xmlns:a="http://schemas.openxmlformats.org/drawingml/2006/main">
            <a:r>
              <a:t>- Project implementation: src/markets.ts settleTicket guaranteeBonus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[1:02-1:48] '저는 이 문제를 선택지로 만들기 전에 먼저 실측했습니다.'</a:t>
            </a:r>
          </a:p>
          <a:p xmlns:a="http://schemas.openxmlformats.org/drawingml/2006/main">
            <a:r>
              <a:t>'80-89% 구간은 실제 강수가 43.3%였습니다. 제주에서는 예보 확률이 구조적으로 과대했습니다.'</a:t>
            </a:r>
          </a:p>
          <a:p xmlns:a="http://schemas.openxmlformats.org/drawingml/2006/main">
            <a:r>
              <a:t>수치를 전부 읽지 말고 80% -&gt; 43.3%에서 1초 멈춘다.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3-7 and 15</a:t>
            </a:r>
          </a:p>
          <a:p xmlns:a="http://schemas.openxmlformats.org/drawingml/2006/main">
            <a:r>
              <a:t>- Project implementation: src/calibration.ts CALIBRATION_META and RELIABILITY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[1:48-2:30] '첫 번째는 실용성입니다. 다음 비 시점, 우산, 옷차림, 대기질을 잠금화면에서 바로 보여줍니다.'</a:t>
            </a:r>
          </a:p>
          <a:p xmlns:a="http://schemas.openxmlformats.org/drawingml/2006/main">
            <a:r>
              <a:t>'날씨는 유틸리티로 들어오고, 이제 예측 게임으로 머물게 합니다.' 라고 다음 슬라이드를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screenshots: qa/final-lock.png, qa/final-home-pixel.png</a:t>
            </a:r>
          </a:p>
          <a:p xmlns:a="http://schemas.openxmlformats.org/drawingml/2006/main">
            <a:r>
              <a:t>- User-provided project brief PDF, pages 8 and 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[2:30-3:20] 관객 참여 구간. '지금 5초 드리겠습니다. AI를 믿으면 YES, 제주를 믿으면 NO입니다.'</a:t>
            </a:r>
          </a:p>
          <a:p xmlns:a="http://schemas.openxmlformats.org/drawingml/2006/main">
            <a:r>
              <a:t>손을 들게 한 뒤: '돈은 걸지 않습니다. 오늘의 판단만 겁니다.'</a:t>
            </a:r>
          </a:p>
          <a:p xmlns:a="http://schemas.openxmlformats.org/drawingml/2006/main">
            <a:r>
              <a:t>'적중하면 배율 포인트, 우리 모델이 틀리면 사용자의 선택과 관계없이 보상 포인트가 추가로 나갑니다.'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6-8 and 12-14</a:t>
            </a:r>
          </a:p>
          <a:p xmlns:a="http://schemas.openxmlformats.org/drawingml/2006/main">
            <a:r>
              <a:t>- Project implementation: src/markets.ts, src/Prototype.tsx</a:t>
            </a:r>
          </a:p>
          <a:p xmlns:a="http://schemas.openxmlformats.org/drawingml/2006/main">
            <a:r>
              <a:t>- Project-owned screenshot: qa/reward-success-browser.png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[3:20-4:10] '핵심은 거대한 신경망이 아닙니다. 잘 맞힌 글로벌 AI의 확률을 제주 실측에 맞게 재조정하는 해석 가능한 모델입니다.'</a:t>
            </a:r>
          </a:p>
          <a:p xmlns:a="http://schemas.openxmlformats.org/drawingml/2006/main">
            <a:r>
              <a:t>'AI 95%가 제주에서는 실제로 약 66%였다는 것을 보여줍니다.'</a:t>
            </a:r>
          </a:p>
          <a:p xmlns:a="http://schemas.openxmlformats.org/drawingml/2006/main">
            <a:r>
              <a:t>'11,088시간은 학습에 전혀 쓰지 않았고, Brier score는 0.1300에서 0.0832로 36% 개선됐습니다.'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6-7 and 15</a:t>
            </a:r>
          </a:p>
          <a:p xmlns:a="http://schemas.openxmlformats.org/drawingml/2006/main">
            <a:r>
              <a:t>- Project implementation: src/calibration.ts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[4:10-5:05] '이 분리가 기술의 핵심입니다. 예보로 마켓을 만들고, 대상 시각이 지난 뒤에는 별도의 관측 시리즈로 채점합니다.'</a:t>
            </a:r>
          </a:p>
          <a:p xmlns:a="http://schemas.openxmlformats.org/drawingml/2006/main">
            <a:r>
              <a:t>'WeatherNext 2는 64개 시나리오의 합의도를 제공하고, JCM-1이 제주 확률로 보정합니다.'</a:t>
            </a:r>
          </a:p>
          <a:p xmlns:a="http://schemas.openxmlformats.org/drawingml/2006/main">
            <a:r>
              <a:t>'현재 원장과 포인트는 로컬 MVP이며, 상용화 시 서버 스냅샷 DB와 포인트 원장으로 옮깁니다.'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7-8, 10-11, 15-16</a:t>
            </a:r>
          </a:p>
          <a:p xmlns:a="http://schemas.openxmlformats.org/drawingml/2006/main">
            <a:r>
              <a:t>- Project implementation: src/weather.ts, src/markets.ts, src/verification.ts, src/publicdata.ts</a:t>
            </a:r>
          </a:p>
          <a:p xmlns:a="http://schemas.openxmlformats.org/drawingml/2006/main">
            <a:r>
              <a:t>- https://developers.google.com/weathernext/guides/models</a:t>
            </a:r>
          </a:p>
          <a:p xmlns:a="http://schemas.openxmlformats.org/drawingml/2006/main">
            <a:r>
              <a:t>- https://open-meteo.com/en/docs/google-weathernext-api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[5:05-5:55] '이 서비스가 잘될 이유는 정확도와 재미가 서로를 키우기 때문입니다.'</a:t>
            </a:r>
          </a:p>
          <a:p xmlns:a="http://schemas.openxmlformats.org/drawingml/2006/main">
            <a:r>
              <a:t>'날씨는 유틸리티로 들어오고, 게임으로 머물고, 데이터로 남습니다.'</a:t>
            </a:r>
          </a:p>
          <a:p xmlns:a="http://schemas.openxmlformats.org/drawingml/2006/main">
            <a:r>
              <a:t>'포인트는 무제한 현금 보상이 아니라 후원 풀과 제한을 두고 지역 쿠폰으로 연결합니다.'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8-11</a:t>
            </a:r>
          </a:p>
          <a:p xmlns:a="http://schemas.openxmlformats.org/drawingml/2006/main">
            <a:r>
              <a:t>- Project product logic and future operating model; commercial integrations are roadmap, not current live data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[5:55-6:25] '이건 기획서 속 모형이 아닙니다. 제주 실제 데이터로 작동하고, 8개 자동화 테스트를 모두 통과한 웹 MVP입니다.'</a:t>
            </a:r>
          </a:p>
          <a:p xmlns:a="http://schemas.openxmlformats.org/drawingml/2006/main">
            <a:r>
              <a:t>두 번째 반복개그: '캐시웨더 지금 바로 다운로드… 이번엔 로컬 주소만 있습니다.'</a:t>
            </a:r>
          </a:p>
          <a:p xmlns:a="http://schemas.openxmlformats.org/drawingml/2006/main">
            <a:r>
              <a:t>시간이 부족하면 실제 데모는 잠금화면 -&gt; 마켓 -&gt; 복기 마켓 즉시 정산만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screenshot: qa/final-home-pixel.png</a:t>
            </a:r>
          </a:p>
          <a:p xmlns:a="http://schemas.openxmlformats.org/drawingml/2006/main">
            <a:r>
              <a:t>- Project package.json and implementation</a:t>
            </a:r>
          </a:p>
          <a:p xmlns:a="http://schemas.openxmlformats.org/drawingml/2006/main">
            <a:r>
              <a:t>- Verified 2026-08-18: npm run check:runtime passed; npm run test:runtime -- --reporter=line passed 8/8</a:t>
            </a:r>
          </a:p>
          <a:p xmlns:a="http://schemas.openxmlformats.org/drawingml/2006/main">
            <a:r>
              <a:t>- User-provided project brief PDF, pages 10 and 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[6:25-7:00] '오늘의 오차를 내일의 정확도로 바꾸겠습니다.'</a:t>
            </a:r>
          </a:p>
          <a:p xmlns:a="http://schemas.openxmlformats.org/drawingml/2006/main">
            <a:r>
              <a:t>'날씨는 유틸리티로 들어오고, 게임으로 머물고, 데이터로 남습니다.'</a:t>
            </a:r>
          </a:p>
          <a:p xmlns:a="http://schemas.openxmlformats.org/drawingml/2006/main">
            <a:r>
              <a:t>마지막 반복개그는 호흡을 놓고: '캐시워크 지금 바로 다운로드… 아니고, 캐시웨더. 이제는 진짜 지금 바로 다운로드.'</a:t>
            </a:r>
          </a:p>
          <a:p xmlns:a="http://schemas.openxmlformats.org/drawingml/2006/main">
            <a:r>
              <a:t>웃음이 나오면 '감사합니다' 하고 즉시 끝낸다. 기술 설명을 더 붙이지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1 and 9</a:t>
            </a:r>
          </a:p>
          <a:p xmlns:a="http://schemas.openxmlformats.org/drawingml/2006/main">
            <a:r>
              <a:t>- Project-owned assets: jeju-rain-lockscreen.png, cloud-coin-mascot.png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[Q&amp;A] 15초 답변: '사용자가 돈을 걸거나 현금으로 빼는 경로가 없는 무료 포인트 챌린지입니다. 다만 상용화 전에 쿠폰과 보상 구조는 법률 검토하겠습니다.'</a:t>
            </a:r>
          </a:p>
          <a:p xmlns:a="http://schemas.openxmlformats.org/drawingml/2006/main">
            <a:r>
              <a:t>법적 안전을 단정하지 말고 '오인 위험을 낮춘다 + 출시 전 검토'로 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7 and 10-11</a:t>
            </a:r>
          </a:p>
          <a:p xmlns:a="http://schemas.openxmlformats.org/drawingml/2006/main">
            <a:r>
              <a:t>- Project AGENTS.md prediction market 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[Q&amp;A] 20초 답변: 'WeatherNext 2 그 자체를 초지역이라고 주장하지 않습니다. 현재는 제주 6개 생활권 보정이고, 향후 기상청 지점 관측과 검증된 현장 제보로 세분화합니다.'</a:t>
            </a:r>
          </a:p>
          <a:p xmlns:a="http://schemas.openxmlformats.org/drawingml/2006/main">
            <a:r>
              <a:t>현장 제보는 정밀 기온·습도 대체가 아니라 비, 안개, 노면 상태 같은 이벤트 맥락 데이터로 정의한다.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https://developers.google.com/weathernext/guides/models</a:t>
            </a:r>
          </a:p>
          <a:p xmlns:a="http://schemas.openxmlformats.org/drawingml/2006/main">
            <a:r>
              <a:t>- https://open-meteo.com/en/docs/google-weathernext-api</a:t>
            </a:r>
          </a:p>
          <a:p xmlns:a="http://schemas.openxmlformats.org/drawingml/2006/main">
            <a:r>
              <a:t>- User-provided project brief PDF, pages 9-11 and 15-16</a:t>
            </a:r>
          </a:p>
          <a:p xmlns:a="http://schemas.openxmlformats.org/drawingml/2006/main">
            <a:r>
              <a:t>- Project AGENTS.md reporting and WeatherNext boundaries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[Q&amp;A] 20초 답변: '무작위 분할이 아니라 과거 10개월로 보정하고 뒤 2.5개월로 검증해 미래 데이터 유입을 막았습니다. 스크립트도 저장소에 포함해 수치를 재현할 수 있습니다.'</a:t>
            </a:r>
          </a:p>
          <a:p xmlns:a="http://schemas.openxmlformats.org/drawingml/2006/main">
            <a:r>
              <a:t>한계도 먼저 말한다: '현재 JCM-1은 강수확률만 보정합니다.'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brief PDF, pages 7, 10, and 15</a:t>
            </a:r>
          </a:p>
          <a:p xmlns:a="http://schemas.openxmlformats.org/drawingml/2006/main">
            <a:r>
              <a:t>- Project implementation: src/calibration.ts and scripts/fit-calibration.py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64ef3c3b7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91f951ace4ac0" /><Relationship Type="http://schemas.openxmlformats.org/officeDocument/2006/relationships/slideLayout" Target="/ppt/slideLayouts/slideLayout1.xml" Id="R8382b459f2bf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2b459f2bf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a4744b0fa4cf4" /><Relationship Type="http://schemas.openxmlformats.org/officeDocument/2006/relationships/image" Target="/ppt/media/image.png" Id="Ref532427f42143ee" /><Relationship Type="http://schemas.openxmlformats.org/officeDocument/2006/relationships/image" Target="/ppt/media/image2.png" Id="R5b27503826de4ce4" /><Relationship Type="http://schemas.openxmlformats.org/officeDocument/2006/relationships/notesSlide" Target="/ppt/notesSlides/notesSlide1.xml" Id="Rb4603e083c69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fdde7db3e4fbd" /><Relationship Type="http://schemas.openxmlformats.org/officeDocument/2006/relationships/image" Target="/ppt/media/image3.png" Id="Raafc0fbf020746cc" /><Relationship Type="http://schemas.openxmlformats.org/officeDocument/2006/relationships/notesSlide" Target="/ppt/notesSlides/notesSlide2.xml" Id="Rfdb5f0bf8bf6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1f78bc4674f10" /><Relationship Type="http://schemas.openxmlformats.org/officeDocument/2006/relationships/notesSlide" Target="/ppt/notesSlides/notesSlide3.xml" Id="R6447424f41e049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d7ebc4a434802" /><Relationship Type="http://schemas.openxmlformats.org/officeDocument/2006/relationships/image" Target="/ppt/media/image.jpeg" Id="R2893e05458554b48" /><Relationship Type="http://schemas.openxmlformats.org/officeDocument/2006/relationships/image" Target="/ppt/media/image2.jpeg" Id="Rc52f38d693cb41e7" /><Relationship Type="http://schemas.openxmlformats.org/officeDocument/2006/relationships/notesSlide" Target="/ppt/notesSlides/notesSlide4.xml" Id="Rf384402ff761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1ab6af5654475" /><Relationship Type="http://schemas.openxmlformats.org/officeDocument/2006/relationships/image" Target="/ppt/media/image3.jpeg" Id="R24cf804d220c4767" /><Relationship Type="http://schemas.openxmlformats.org/officeDocument/2006/relationships/notesSlide" Target="/ppt/notesSlides/notesSlide5.xml" Id="R9fa5586e9a7848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56552a79d47ac" /><Relationship Type="http://schemas.openxmlformats.org/officeDocument/2006/relationships/notesSlide" Target="/ppt/notesSlides/notesSlide6.xml" Id="R3e5a522ebdb5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531bf91794057" /><Relationship Type="http://schemas.openxmlformats.org/officeDocument/2006/relationships/image" Target="/ppt/media/image4.jpeg" Id="R2615d37e9da4406b" /><Relationship Type="http://schemas.openxmlformats.org/officeDocument/2006/relationships/notesSlide" Target="/ppt/notesSlides/notesSlide7.xml" Id="Re08fe85cfd5a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de81b708e4584" /><Relationship Type="http://schemas.openxmlformats.org/officeDocument/2006/relationships/notesSlide" Target="/ppt/notesSlides/notesSlide8.xml" Id="R7e80703bc48c49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7ad409184b6b" /><Relationship Type="http://schemas.openxmlformats.org/officeDocument/2006/relationships/image" Target="/ppt/media/image5.jpeg" Id="R3d0e301cb1ff4bb4" /><Relationship Type="http://schemas.openxmlformats.org/officeDocument/2006/relationships/notesSlide" Target="/ppt/notesSlides/notesSlide9.xml" Id="R69c74f03212649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6f07ea3464a76" /><Relationship Type="http://schemas.openxmlformats.org/officeDocument/2006/relationships/image" Target="/ppt/media/image4.png" Id="R671842aa766d45ed" /><Relationship Type="http://schemas.openxmlformats.org/officeDocument/2006/relationships/image" Target="/ppt/media/image5.png" Id="Rec2e7e7f5c184310" /><Relationship Type="http://schemas.openxmlformats.org/officeDocument/2006/relationships/notesSlide" Target="/ppt/notesSlides/notesSlide10.xml" Id="R3877b91952d047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209f475e348ec" /><Relationship Type="http://schemas.openxmlformats.org/officeDocument/2006/relationships/notesSlide" Target="/ppt/notesSlides/notesSlide11.xml" Id="R7c4d0bc6b8ee4d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860db36504ee9" /><Relationship Type="http://schemas.openxmlformats.org/officeDocument/2006/relationships/notesSlide" Target="/ppt/notesSlides/notesSlide12.xml" Id="R4f08138ca79041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893bdb5f4487" /><Relationship Type="http://schemas.openxmlformats.org/officeDocument/2006/relationships/notesSlide" Target="/ppt/notesSlides/notesSlide13.xml" Id="R930fa561d9754b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32427f42143ee"/>
          <a:srcRect xmlns:a="http://schemas.openxmlformats.org/drawingml/2006/main" l="0" t="37019" r="0" b="37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FE57D-8275-4EAA-81DA-63AAB6CA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  <a:gradFill xmlns:a="http://schemas.openxmlformats.org/drawingml/2006/main">
            <a:gsLst>
              <a:gs pos="0">
                <a:srgbClr val="08111E">
                  <a:alpha val="92157"/>
                </a:srgbClr>
              </a:gs>
              <a:gs pos="58000">
                <a:srgbClr val="08111E">
                  <a:alpha val="54118"/>
                </a:srgbClr>
              </a:gs>
              <a:gs pos="100000">
                <a:srgbClr val="08111E">
                  <a:alpha val="23922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84E79-BFA4-4AE9-8838-5EDD262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여러분,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DE173-40F6-4B7C-81E0-F9DE9E1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61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저 오늘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날씨 앱을 믿었어요.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5427A-44D2-4D34-9A57-E26E8C5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4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D8E4F4"/>
                </a:solidFill>
                <a:latin typeface="Apple SD Gothic Neo"/>
                <a:ea typeface="Apple SD Gothic Neo"/>
                <a:cs typeface="Apple SD Gothic Neo"/>
              </a:rPr>
              <a:t>"한 시간 뒤에 그친다"길래요.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A189B-C9FA-44A0-A317-547823A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619500" cy="51054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9131D">
              <a:alpha val="72157"/>
            </a:srgbClr>
          </a:solidFill>
          <a:ln xmlns:a="http://schemas.openxmlformats.org/drawingml/2006/main" w="9525">
            <a:solidFill>
              <a:srgbClr val="FFFFFF">
                <a:alpha val="2902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7503826de4ce4"/>
          <a:stretch xmlns:a="http://schemas.openxmlformats.org/drawingml/2006/main"/>
        </p:blipFill>
        <p:spPr>
          <a:xfrm xmlns:a="http://schemas.openxmlformats.org/drawingml/2006/main">
            <a:off x="7696200" y="1543050"/>
            <a:ext cx="3276600" cy="3276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0C1A-277A-4A3A-A3E3-3B952DC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386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8C88C-17DC-4188-8A24-F6399044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48175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8E1B3-C6EF-44DC-BC28-01E34C34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53050"/>
            <a:ext cx="1638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9525">
            <a:solidFill>
              <a:srgbClr val="FFFFFF">
                <a:alpha val="25882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9EBE0-250C-48E6-A19F-3961C4ED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6257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밈 영상 · 8초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7615E-FA4E-408C-BCA1-084F074F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>
                    <a:alpha val="80000"/>
                  </a:srgbClr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>
                    <a:alpha val="80000"/>
                  </a:srgbClr>
                </a:solidFill>
                <a:latin typeface="Apple SD Gothic Neo"/>
                <a:ea typeface="Apple SD Gothic Neo"/>
                <a:cs typeface="Apple SD Gothic Neo"/>
              </a:rPr>
              <a:t>CashWeather</a:t>
            </a:r>
          </a:p>
        </p:txBody>
      </p:sp>
    </p:spTree>
    <p:extLst>
      <p:ext uri="{BB962C8B-B14F-4D97-AF65-F5344CB8AC3E}">
        <p14:creationId xmlns:p14="http://schemas.microsoft.com/office/powerpoint/2010/main" val="1241121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529D8-7D5F-4030-A4D0-46B6E6E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날씨 앱이 틀렸는데,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15F3-234F-48DE-A49D-AA9C38A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누가 책임지죠?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9E2DE-E839-454C-A38C-62670AA4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아무도요.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59EE9-A677-41C5-B7E1-5C2FAEC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8AB0D-1623-4DD6-AA1B-FE700FF8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우리 날씨 예측이 틀리면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BF512-10F3-42B2-8CA9-0D2AD03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포인트를 드립니다.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0fbf020746cc"/>
          <a:stretch xmlns:a="http://schemas.openxmlformats.org/drawingml/2006/main"/>
        </p:blipFill>
        <p:spPr>
          <a:xfrm xmlns:a="http://schemas.openxmlformats.org/drawingml/2006/main">
            <a:off x="8858250" y="2819400"/>
            <a:ext cx="2524125" cy="2524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9DE9E-41BD-4A75-9D06-F965B63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CashWeather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AE07F-B596-4FF7-AE55-23014359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15025"/>
            <a:ext cx="2952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97C6-EF10-475C-8A1E-C79FE54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24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무료 포인트 예측 챌린지</a:t>
            </a:r>
          </a:p>
        </p:txBody>
      </p:sp>
    </p:spTree>
    <p:extLst>
      <p:ext uri="{BB962C8B-B14F-4D97-AF65-F5344CB8AC3E}">
        <p14:creationId xmlns:p14="http://schemas.microsoft.com/office/powerpoint/2010/main" val="56700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3B82B-F448-416F-8040-39518ED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7242F-2FF3-4AF7-9F4A-12D37B6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A50FC-0B51-4C27-B485-CC651C2A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제주의 80%는, 실제로는 43%였습니다.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6C694-10D1-4329-A77E-64E8778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과거 예보와 실제 강수를 1:1로 대조했습니다.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EBF78-5C3B-4DBC-8788-1B16492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647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2546C-EA8A-478D-92C8-C91A3B4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1447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제주 6개 생활권 · 54,864시간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494A9-97DB-4DF4-B9AB-0F810E9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AI 90-99%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8116E-82DF-4916-ADA2-2570CA6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9825"/>
            <a:ext cx="666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49918-16CC-49E8-B64F-B650F2F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9825"/>
            <a:ext cx="590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54E45-A25B-4E66-AE28-C786D1E2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실제 68.3%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3AA59-6B1B-4735-9CA4-F74CEA27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90775"/>
            <a:ext cx="628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0B066-46CB-4A44-AEA0-111C4878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-27p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1514A-73B7-481C-8A4B-B65054E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AI 80-89%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BE17D-E375-458B-816A-73679F47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666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8E150-BD72-481B-9809-EE4E8948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A696A-2693-4693-9C5D-18F797E7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실제 43.3%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90180-22BD-4E56-AA79-216BC15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57575"/>
            <a:ext cx="628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2F758-19B2-4269-B8A0-F7EBBA6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-42p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D2F3C-F679-449E-B22F-0FCDA6D7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AI 70-79%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316BB-D387-45EA-9FBC-8803AA4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666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FA676-4BBE-46B7-B231-86A2CB4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2781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40D08-B832-442E-A7C7-40B3B69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실제 29.2%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BE27C-FDC6-40C1-938A-ADE6A38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24375"/>
            <a:ext cx="6286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0571FA-8D9C-43A4-A478-97776F7A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5339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-46p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E8CB1-5861-42B0-B31F-544B747B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5A9FE-B474-4ABD-9184-E853783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816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문제는 AI가 나빠서가 아니라, 제주를 ‘글로벌 평균’으로 본다는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289850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F5FE9-4974-4D5B-ABAE-3EF6E19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7006C-3A95-4BBA-87B4-2E5E5FA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AE3F9-5E47-433A-9BB8-CED1541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날씨는 유틸리티로 들어옵니다.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75ACE-CFCB-4B83-83F1-5097B46E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잠금화면부터 외출 결정을 끝냅니다.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3e05458554b48"/>
          <a:stretch xmlns:a="http://schemas.openxmlformats.org/drawingml/2006/main"/>
        </p:blipFill>
        <p:spPr>
          <a:xfrm xmlns:a="http://schemas.openxmlformats.org/drawingml/2006/main">
            <a:off x="677574" y="1809750"/>
            <a:ext cx="4883727" cy="4476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f38d693cb41e7"/>
          <a:stretch xmlns:a="http://schemas.openxmlformats.org/drawingml/2006/main"/>
        </p:blipFill>
        <p:spPr>
          <a:xfrm xmlns:a="http://schemas.openxmlformats.org/drawingml/2006/main">
            <a:off x="5387686" y="1809750"/>
            <a:ext cx="4883727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44A45-A454-4045-B53B-C2086E46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14859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926D2-5808-4DCC-93FD-4DB7321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91175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75분 뒤 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C88E3-C97E-4002-A88C-7D36C711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1200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E3BE8-7A49-47BD-A8D0-426241C4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91175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옷차림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EDCF0-54AC-4767-9F9D-6751972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81650"/>
            <a:ext cx="1676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32856-3F83-47DE-AEA4-8D041B4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911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우산 · 대기질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55DA8-1FD6-40B9-A379-F39E98F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앱을 열기 전에 실용적이고, 열고 나서는 재미있게.</a:t>
            </a:r>
          </a:p>
        </p:txBody>
      </p:sp>
    </p:spTree>
    <p:extLst>
      <p:ext uri="{BB962C8B-B14F-4D97-AF65-F5344CB8AC3E}">
        <p14:creationId xmlns:p14="http://schemas.microsoft.com/office/powerpoint/2010/main" val="2052735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329D4-5173-4402-9366-F2E50DD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92E6-C78B-4FAF-A032-B1C76B6F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DFC1E-3F6A-493C-A3CC-8C87369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그리고 예측 게임으로 머물게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A5259-497C-4934-855A-C93445A2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77000" cy="4324350"/>
          </a:xfrm>
          <a:prstGeom xmlns:a="http://schemas.openxmlformats.org/drawingml/2006/main" prst="roundRect">
            <a:avLst>
              <a:gd name="adj" fmla="val 5286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BB528-DA73-4457-8046-0D21C1D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9BCF5-0E66-4C49-8854-7B88BD4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LIVE · 아라동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40CFE-00B2-44E0-96CF-D9D46A5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오늘 오후 3-4시</a:t>
            </a:r>
          </a:p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아라동에 비가 올까요?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709D2-0CDE-4D67-A141-17FFCACE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AI 원본 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9AFB-E7EB-4CB3-B048-92BE9420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ACFD2-1434-4370-B414-30BC0AE0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814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제주 보정 66%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0C673-69DB-4395-86E6-3332C295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CB4B1-7BB7-48C1-B209-1501E99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YES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1.45배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1D987-E435-4926-99DB-82EA00E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9525">
            <a:solidFill>
              <a:srgbClr val="FFC5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69509-FFD3-401E-9263-A58CFFE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NO</a:t>
            </a:r>
          </a:p>
          <a:p xmlns:a="http://schemas.openxmlformats.org/drawingml/2006/main">
            <a:pPr algn="ctr">
              <a:def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2.80배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3099A-DD71-4579-B6CF-3FCE812A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560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현금 없이 무료 포인트로만 참여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f804d220c4767"/>
          <a:srcRect xmlns:a="http://schemas.openxmlformats.org/drawingml/2006/main" l="24913" t="0" r="249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581150"/>
            <a:ext cx="2286000" cy="3905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F633E-356B-488E-8719-F73A0F74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24500"/>
            <a:ext cx="3562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F65C7-BCBF-4A0B-893D-DDE49D5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34025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예측 → 정산 → 포인트 → 랭킹</a:t>
            </a:r>
          </a:p>
        </p:txBody>
      </p:sp>
    </p:spTree>
    <p:extLst>
      <p:ext uri="{BB962C8B-B14F-4D97-AF65-F5344CB8AC3E}">
        <p14:creationId xmlns:p14="http://schemas.microsoft.com/office/powerpoint/2010/main" val="1844532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49BB3-A50A-4FC7-904C-261485C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84383-B7B5-4831-B7CE-7992A972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2137A-20F6-4B6B-A8BD-0CD2C74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우리는 새 AI를 만들지 않았습니다. 제주에 맞게 고쳤습니다.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4064-259E-4A2F-8456-76B30CD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43050"/>
            <a:ext cx="3009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1442E-471F-406F-B706-F04BFB2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5257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JCM-1 · Jeju Calibration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7EBAC-BF4A-4AA0-BF6A-E451277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95%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543F9-5950-4A5E-B606-5ECCF21E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AI 원본 확률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903D5-29AB-4E7F-863D-30FCD23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07C80-39AA-4C8F-9013-07774D47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66%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C9CED-8C38-4EEF-870D-D955E9EB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86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제주 실측 보정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2BD33-94E7-418A-B951-57B66114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257550" cy="2038350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CD076-FD65-4F5B-8662-0C807363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54,864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75CFB-7131-44E7-86B9-A51EF9C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제주 6개 지점 시간 데이터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02477-C49A-4DE9-BE78-0B53FB2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FD0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BFD0E4"/>
                </a:solidFill>
                <a:latin typeface="Apple SD Gothic Neo"/>
                <a:ea typeface="Apple SD Gothic Neo"/>
                <a:cs typeface="Apple SD Gothic Neo"/>
              </a:rPr>
              <a:t>미사용 미래 구간 11,088시간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6C5DF-66A5-4C47-92EB-8433E97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76700-5C53-40E6-B5A9-9EFCE92D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Brier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BC64C-F752-4DDE-970E-D7D43E1D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0.1300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4EE28-94A6-4B6C-A0DF-3412759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816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C863A-A35B-41C8-B3D9-D23CC0E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62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0.0832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26FDA-F79C-47C3-A40D-C4E5C8A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1809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9D160-F47B-4B7B-93B6-BE287468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36.0%</a:t>
            </a:r>
          </a:p>
          <a:p xmlns:a="http://schemas.openxmlformats.org/drawingml/2006/main">
            <a:pPr algn="ctr">
              <a:def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69925-76C2-480E-99FA-A6925BC6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6727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10구간 히스토그램 보정</a:t>
            </a:r>
          </a:p>
          <a:p xmlns:a="http://schemas.openxmlformats.org/drawingml/2006/main">
            <a:pPr algn="l">
              <a:defRPr sz="150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시간 순서 분리 · 미래 정보 유입 방지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89BFC-1659-4578-ABE9-4916A129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817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예보를 새로 만든 것이 아니라, 예보의 ‘자신감’을 제주 현실에 맞춴습니다.</a:t>
            </a:r>
          </a:p>
        </p:txBody>
      </p:sp>
    </p:spTree>
    <p:extLst>
      <p:ext uri="{BB962C8B-B14F-4D97-AF65-F5344CB8AC3E}">
        <p14:creationId xmlns:p14="http://schemas.microsoft.com/office/powerpoint/2010/main" val="331642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C2323-3E9C-489E-A963-5DED165A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C20B6-E0DA-4752-8B83-6BE4D99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2D1F9-39C5-4356-99AE-C510DCE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예보와 실측을 분리해, 틀린 순간까지 자동 채점합니다.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FA01F-B430-4411-AFD5-25AD964E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92405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EE10-6171-4EF6-AC8C-691E6AA2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WeatherNext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53BFE-42CC-4A7F-963F-63878A42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64개 앙상블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원본 확률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B3989-007F-42CD-94FF-11125433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7EB43-5AAA-402F-9C1D-1E762F29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1866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AAA76-9A91-476E-AB4F-70CCE1B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JCM-1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BD26B-3CAD-48B9-9BCA-86B84B10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제주 실측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확률 보정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ECB3-FBB2-4974-9892-1944827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7655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5E4C6-5711-4F47-9EF2-82EE138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24100"/>
            <a:ext cx="1866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09076-3625-415D-9220-8137F2E5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D864C-EE56-4DEB-BF10-CE98E46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확률 스냅샷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YES / 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632A4-225C-48CA-AF0F-AFBEDAAE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7BDB7-074D-4FE6-B87C-35CED11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1866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EAE6"/>
          </a:solidFill>
          <a:ln xmlns:a="http://schemas.openxmlformats.org/drawingml/2006/main" w="9525">
            <a:solidFill>
              <a:srgbClr val="FFC6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ACF08-C617-4D48-A388-E7243148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71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41694-AD35-41C9-8B2F-99040FA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대상 시각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관측값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59CB2-4D36-450A-A5DC-7B5A719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34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9859B-EBEF-4639-86CF-250A6E3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1524000" cy="17716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7E8C9-5E94-4F2C-AC5E-CBCDF16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Settle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7E901-8D5B-45C5-9145-B6554C5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정산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+보상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A4929-53F0-4BBA-B72B-68D2253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333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E3976-C29B-42EA-972A-E54F153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LIVE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770EA-D479-4844-A23E-D1E3D5B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WeatherNext 2 via Open-Meteo · 예보/관측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C9C37-FA94-4597-9AE4-0EB47CB5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33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DACBB-93CD-46F2-A198-CDFA0E3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LOCAL MVP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AE868-AEA8-44C8-84B9-83DE608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예측 원장 · 포인트 · 정산 · 랭킹은 기기 내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6A48E-F77A-44C6-868F-27B52180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333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D763F-0BC6-459A-8D8C-CD1CDA8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rPr>
              <a:t>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E74206-7877-45DC-9844-BC2A1B2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721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기상청 단기예보 어댑터 · 서비스키 발급 시 활성화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5d37e9da4406b"/>
          <a:stretch xmlns:a="http://schemas.openxmlformats.org/drawingml/2006/main"/>
        </p:blipFill>
        <p:spPr>
          <a:xfrm xmlns:a="http://schemas.openxmlformats.org/drawingml/2006/main">
            <a:off x="9098973" y="4305300"/>
            <a:ext cx="1766455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96D50-1E8D-4CF6-B6DB-086399A5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예보로 가격을 만들고, 같은 페이로드로 정산하지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20809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A0492-EF87-4A44-9F2B-345937AF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12490-3BA3-4D50-8E2C-18AD9945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DE18A-90CF-42D0-B8EB-B1C42E6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모델은 빌릴 수 있어도, 제주 오차 데이터는 복제하기 어렵습니다.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F77F-65E8-45F8-867C-E8DFCD81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24100"/>
            <a:ext cx="233362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900D-CE60-4C4A-A9F2-E89E5D7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더 정확한 확률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B03F7-AED3-45D6-A4C8-5B8BA35B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JCM-1 보정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45A38-FDB8-4A18-95AA-97F4107B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194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7DE39-AC38-4847-A297-F194BA0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233362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FDA81-9E7D-45A8-85C6-0E598181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더 높은 신뢰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C3461-421B-4E8F-AEC5-43357ACD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적중률·오차 공개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C6939-147E-42C4-B8AB-CCAC38A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194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59820-F823-4BEB-86E0-C0E16963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24100"/>
            <a:ext cx="233362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78280-54D0-4AF7-94D3-C360241B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더 많은 참여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15D6C-170D-4951-8366-67A082B3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예측·랭킹·보상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8E3BE-9155-4755-86CA-908E755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194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2D754-55D1-4D1D-8505-4A1F30D7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24100"/>
            <a:ext cx="233362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6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5AEF1-6FB8-4835-AAD0-84E520F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89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더 촬촬한 실황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8100E-8B6A-43D5-89CE-2149C30F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시간·위치·현장 제보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B7CDD-BC31-4177-A972-E09D00F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481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E1022-2345-452A-AFEB-FFA3C2C7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57700"/>
            <a:ext cx="10334625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8A0AA-3E7B-4F11-9979-881DE89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6F5FC-9FDE-4C8E-AA96-E78571E9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우산·옷차림 결정 + 재미 + 포인트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E99CC-6804-464A-8C17-EB2CD2E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지역 상권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B53A3-67B5-49F6-BF89-92BF4B4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816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날씨 미션 후원 + 제주 제휴 쿠폰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00C1CD-6C68-41A7-AF6F-287C4C25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1487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rPr>
              <a:t>캐시웨더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D7EA7-002D-4624-831B-E0ECA2E1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249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예보 ↔ 결과 ↔ 행동이 연결된 지역 데이터</a:t>
            </a:r>
          </a:p>
        </p:txBody>
      </p:sp>
    </p:spTree>
    <p:extLst>
      <p:ext uri="{BB962C8B-B14F-4D97-AF65-F5344CB8AC3E}">
        <p14:creationId xmlns:p14="http://schemas.microsoft.com/office/powerpoint/2010/main" val="1375374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456F-5951-4B82-B67E-F9E3336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CASHWEATHER / 25조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1951E-6652-4933-AE28-9BB89B5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76CCF-7BCF-4B35-B970-2947930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이미 돌아갑니다.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e301cb1ff4bb4"/>
          <a:stretch xmlns:a="http://schemas.openxmlformats.org/drawingml/2006/main"/>
        </p:blipFill>
        <p:spPr>
          <a:xfrm xmlns:a="http://schemas.openxmlformats.org/drawingml/2006/main">
            <a:off x="826943" y="1409700"/>
            <a:ext cx="5299364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5C063-1D7F-4729-9024-D4C16E2F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335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D1E59-44FA-402B-96E6-A00640DE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인터랙션 자동화 테스트 통과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04A64-E107-4629-A365-D6FD1A1D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20955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E9E6F-7DAA-4003-AC8F-CDFAE5F1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6개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0ECE0-2218-4E1D-9D2B-E8C41B0E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제주 생활권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9FE56-E3B5-4C62-804E-21DB1694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20955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B2E04-CB75-4F99-A7F1-7E741BC3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9A974"/>
                </a:solidFill>
                <a:latin typeface="Apple SD Gothic Neo"/>
                <a:ea typeface="Apple SD Gothic Neo"/>
                <a:cs typeface="Apple SD Gothic Neo"/>
              </a:rPr>
              <a:t>4개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822D9-9A69-4825-B5C4-9B33678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62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기상 변수 마켓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FE027-06F2-415B-B5D3-7BB567E3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910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React 19 · TypeScript · Vite · Python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5161F-3885-4E2F-89E6-FE5BB314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9112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Open-Meteo · WeatherNext 2 · OpenStreetMap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48F4C-60F3-4249-BA17-DD53E16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911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GPU 추론 서버 없이 정적 보정 모델 배포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484CD-5B61-4A3F-99F1-56692A84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72200"/>
            <a:ext cx="1733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8447B-1AF8-461A-A405-1A3CEB4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817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075103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842aa766d45ed"/>
          <a:srcRect xmlns:a="http://schemas.openxmlformats.org/drawingml/2006/main" l="0" t="37019" r="0" b="37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448A1-94C4-43AB-A912-038E98A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  <a:gradFill xmlns:a="http://schemas.openxmlformats.org/drawingml/2006/main">
            <a:gsLst>
              <a:gs pos="0">
                <a:srgbClr val="07111F">
                  <a:alpha val="85098"/>
                </a:srgbClr>
              </a:gs>
              <a:gs pos="55000">
                <a:srgbClr val="0A1A2C">
                  <a:alpha val="76863"/>
                </a:srgbClr>
              </a:gs>
              <a:gs pos="100000">
                <a:srgbClr val="0A1A2C">
                  <a:alpha val="43137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615F9-857F-4747-9275-1DCD659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오늘의 오차를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9941-81AC-4FE1-A8EA-52B30B83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내일의 정확도로.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26280-626E-4EAC-8860-FA3AC0B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477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rPr>
              <a:t>글로벌 AI가 틀리는 순간,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rPr>
              <a:t>사용자는 포인트를 얻고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E4EDF8"/>
                </a:solidFill>
                <a:latin typeface="Apple SD Gothic Neo"/>
                <a:ea typeface="Apple SD Gothic Neo"/>
                <a:cs typeface="Apple SD Gothic Neo"/>
              </a:rPr>
              <a:t>제주는 더 좋은 데이터를 얻습니다.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e7e7f5c184310"/>
          <a:stretch xmlns:a="http://schemas.openxmlformats.org/drawingml/2006/main"/>
        </p:blipFill>
        <p:spPr>
          <a:xfrm xmlns:a="http://schemas.openxmlformats.org/drawingml/2006/main">
            <a:off x="7962900" y="1562100"/>
            <a:ext cx="3543300" cy="3543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FE0D6-764B-4451-827A-9EEA4295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33333"/>
                  </a:srgbClr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>
                    <a:alpha val="33333"/>
                  </a:srgbClr>
                </a:solidFill>
                <a:latin typeface="Apple SD Gothic Neo"/>
                <a:ea typeface="Apple SD Gothic Neo"/>
                <a:cs typeface="Apple SD Gothic Neo"/>
              </a:rPr>
              <a:t>캐시워크 지금 바로 다운로드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2C871-FDA1-4009-A5DE-465757A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아니고,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EC973-CC0B-44A1-B422-768D4D0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CashWeather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4F67D-93CE-489A-8FB9-090921D2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81650"/>
            <a:ext cx="3619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55C84-506B-4730-A9A6-7EFD487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911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지금 바로 다운로드</a:t>
            </a:r>
          </a:p>
        </p:txBody>
      </p:sp>
    </p:spTree>
    <p:extLst>
      <p:ext uri="{BB962C8B-B14F-4D97-AF65-F5344CB8AC3E}">
        <p14:creationId xmlns:p14="http://schemas.microsoft.com/office/powerpoint/2010/main" val="1210788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24C85-2CBE-41E0-A58E-B16D842B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98063-21F1-466B-9EBA-12CFFCAB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335D-BC6E-47FC-AFF1-B1EB008C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Q. 이거, 도박 아닌가요?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B21F3-8728-4454-AA6E-28EFB0CA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3C9A3-5D97-4CCF-86A5-94F400D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2766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B6F81-740E-461A-B3E8-EFD1BF21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0원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DF242-6F3A-4FD0-9FC3-F1C8A2E1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현금 예치·충전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4B8E3-EEF5-4F6A-BA7C-3845D4C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32766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AAECE-6446-4C79-8A4F-B1CC16D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7297C-99E0-4127-9E54-49F7749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현금 환전·출금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F10D5-E587-46FF-95EC-7D9DC1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2766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13844-C8F0-4793-9831-9EE3FF9E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066D7-EA47-42EA-9618-49FEB60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포인트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예측 챌린지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C745A-3A00-4BC8-A53F-F6B9440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상용화 전에는 쿠폰 교환·확률형 보상을 포함한 법률·플랫폼 정책 검토를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133971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DCA0E-E4DD-459F-875C-F0958F59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8A9B6-F421-48E4-B1E3-AE87FDB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16371-E829-4C82-91DE-6472277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Q. WeatherNext 2가 정말 초지역 날씨인가요?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50CF-2869-4ED1-A6EC-337A75A7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아직은 아닙니다.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282A-8A6D-4BB1-8074-D4339072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WeatherNext 2는 ‘기본 신호’입니다.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E8427-BCDC-4004-A688-48135B27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34315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EE8F5-D8FA-4032-8270-AD7F4273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글로벌 앙상블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675F-1DA3-40B2-AC7B-3613FE10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WeatherNext 2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0.25°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6065D-8AC1-43BC-9759-E50276D7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43350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C4D16-0F6B-41C2-A002-180DF58F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234315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114A6-0E9D-4731-B9B7-194D9DB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8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제주 보정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FE62F-0570-4B7E-821F-905DD8F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JCM-1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6개 생활권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FDA32-226C-4E10-9EBA-570E54F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533DD-38F6-40FD-B58A-11F7E01E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34315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ACC7E-C8DF-4D3D-9BA8-CF8005A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관측 교차검증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0A154-E0BA-4D69-9065-EC1B2A49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기상청 AWS/ASOS</a:t>
            </a:r>
          </a:p>
          <a:p xmlns:a="http://schemas.openxmlformats.org/drawingml/2006/main">
            <a:pPr algn="ctr">
              <a:def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향후 연동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ED7C5-4EE9-4AC2-8786-2B02A7B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80D65-860A-4371-8456-F5975392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234315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A9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A8ECB-1D8D-4DA3-8B5F-CA9403B4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38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현장 맥락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0B92B-5919-4805-97FF-A434FE24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291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비·안개·노면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검증된 제보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5B94C-DE52-4B01-8F0A-6119A00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초지역화는 거대 모델의 격자가 아니라, ‘지역별 오차’를 계속 학습하는 운영 능력에서 만들어집니다.</a:t>
            </a:r>
          </a:p>
        </p:txBody>
      </p:sp>
    </p:spTree>
    <p:extLst>
      <p:ext uri="{BB962C8B-B14F-4D97-AF65-F5344CB8AC3E}">
        <p14:creationId xmlns:p14="http://schemas.microsoft.com/office/powerpoint/2010/main" val="1016280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1D1BB-E4EA-4E9C-B342-CF24019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0045B-0F85-4980-A0EA-DA007F5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204F-2C42-47A5-9A7A-74186D88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Q. 36% 개선, 진짜 검증한 건가요?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5636B-D57D-4FD2-B16E-1FECF56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D66F6"/>
                </a:solidFill>
                <a:latin typeface="Apple SD Gothic Neo"/>
                <a:ea typeface="Apple SD Gothic Neo"/>
                <a:cs typeface="Apple SD Gothic Neo"/>
              </a:rPr>
              <a:t>시간을 썩지 않았습니다.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9C5A8-00BD-4346-B965-63033EB8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320040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EEC59-E066-4AF2-84C1-0A4C2FB3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D548"/>
                </a:solidFill>
                <a:latin typeface="Apple SD Gothic Neo"/>
                <a:ea typeface="Apple SD Gothic Neo"/>
                <a:cs typeface="Apple SD Gothic Neo"/>
              </a:rPr>
              <a:t>43,776시간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6C94A-BC91-4B14-8D44-28C6497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2025.08 - 2026.05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학습 구간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869D0-71C2-4B99-86EC-B034390E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3909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6C7788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4CD1D-2D87-41F1-9AFF-DD6955F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320040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D6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A5CDA-8FF4-43FE-BEAB-BD9C927B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11,088시간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8B6DD-3952-44B3-AFE9-45EC6E33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281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2026.06 - 2026.08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미사용 검증 구간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4A2E5-EDDF-4373-BED7-4A57FF4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3162300" cy="18859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D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5CC4A-1062-4305-B6A1-C297576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432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0.1300 → 0.0832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865DE-3766-4FCC-9154-9A9E8BF4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Brier score</a:t>
            </a:r>
          </a:p>
          <a:p xmlns:a="http://schemas.openxmlformats.org/drawingml/2006/main">
            <a:pPr algn="ctr">
              <a:def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36.0%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74796-8B31-40CA-AEDC-836581D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72A"/>
                </a:solidFill>
                <a:latin typeface="Apple SD Gothic Neo"/>
                <a:ea typeface="Apple SD Gothic Neo"/>
                <a:cs typeface="Apple SD Gothic Neo"/>
              </a:rPr>
              <a:t>재현: scripts/fit-calibration.py  ·  판정: 시간당 강수 0.1mm 이상 = 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05B2C-3CBF-4C8E-A7A3-3BC23BC1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6B59"/>
                </a:solidFill>
                <a:latin typeface="Apple SD Gothic Neo"/>
                <a:ea typeface="Apple SD Gothic Neo"/>
                <a:cs typeface="Apple SD Gothic Neo"/>
              </a:rPr>
              <a:t>현재 보정은 강수확률에만 적용됩니다. 기온·바람·운량은 원본 앙상블 확률을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62404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2026-08-18T06:56:08.3790000Z</dcterms:created>
  <dcterms:modified xsi:type="dcterms:W3CDTF">2026-08-18T06:56:08.3790000Z</dcterms:modified>
</coreProperties>
</file>